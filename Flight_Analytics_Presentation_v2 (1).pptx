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7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2743200" cy="2743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274320"/>
            <a:ext cx="1828800" cy="1828800"/>
          </a:xfrm>
          <a:prstGeom prst="ellipse">
            <a:avLst/>
          </a:prstGeom>
          <a:solidFill>
            <a:srgbClr val="D7B119">
              <a:alpha val="20000"/>
            </a:srgbClr>
          </a:solidFill>
          <a:ln w="12700">
            <a:solidFill>
              <a:srgbClr val="D7B11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097280"/>
            <a:ext cx="2560320" cy="2560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731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spc="400" kern="0" dirty="0">
                <a:solidFill>
                  <a:srgbClr val="0FA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OPERATIONS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65760" y="12344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36576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D7B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Data Analysis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65760" y="2450592"/>
            <a:ext cx="4114800" cy="4572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C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 |  Data Analysis Track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2880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C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Egypt Pioneers Initiative (DEPI)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C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2025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4206240"/>
            <a:ext cx="1280160" cy="36576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4206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</a:rPr>
              <a:t>eyouth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6576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0AAA0"/>
                </a:solidFill>
              </a:rPr>
              <a:t>رواد مصر الرقمية  |  وزارة الاتصالات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0" cy="164592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47954"/>
                </a:solidFill>
              </a:rPr>
              <a:t>رواد مصر الرقمية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589520" y="2011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47954"/>
                </a:solidFill>
              </a:rPr>
              <a:t>وزارة الاتصالات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047954"/>
                </a:solidFill>
              </a:rPr>
              <a:t>وتكنولوجيا المعلومات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-182880" y="3474720"/>
            <a:ext cx="3200400" cy="1828800"/>
          </a:xfrm>
          <a:prstGeom prst="rect">
            <a:avLst/>
          </a:prstGeom>
          <a:solidFill>
            <a:srgbClr val="0FAB7D">
              <a:alpha val="8000"/>
            </a:srgbClr>
          </a:solidFill>
          <a:ln w="12700">
            <a:solidFill>
              <a:srgbClr val="0FAB7D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4773168"/>
            <a:ext cx="1371600" cy="246888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7731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June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91640" y="4773168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Flight Operations Data Analysis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40880" y="477316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336EA8"/>
                </a:solidFill>
              </a:rPr>
              <a:t>eyouth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75320" y="4736592"/>
            <a:ext cx="594360" cy="32004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473659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645920" y="1078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flight operations through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45920" y="1078992"/>
            <a:ext cx="1097280" cy="54864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417320"/>
            <a:ext cx="2834640" cy="3108960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417320"/>
            <a:ext cx="2834640" cy="50292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481328"/>
            <a:ext cx="347472" cy="34747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49808" y="14813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8912" y="1993392"/>
            <a:ext cx="254203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delays cause significant economic losses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 struggle to identify key delay drivers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face poor travel experience due to delays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46120" y="1417320"/>
            <a:ext cx="2834640" cy="3108960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46120" y="1417320"/>
            <a:ext cx="2834640" cy="502920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481328"/>
            <a:ext cx="347472" cy="34747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721608" y="14813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3410712" y="1993392"/>
            <a:ext cx="254203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5.8M+ flight records across US airlines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Power BI dashboards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MySQL for deep data exploration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217920" y="1417320"/>
            <a:ext cx="2834640" cy="3108960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217920" y="1417320"/>
            <a:ext cx="2834640" cy="50292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481328"/>
            <a:ext cx="347472" cy="34747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693408" y="14813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382512" y="1993392"/>
            <a:ext cx="254203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SQL → Power BI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delay analysis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for airlines &amp; travelers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0" cy="164592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47954"/>
                </a:solidFill>
              </a:rPr>
              <a:t>رواد مصر الرقمية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589520" y="2011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47954"/>
                </a:solidFill>
              </a:rPr>
              <a:t>وزارة الاتصالات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047954"/>
                </a:solidFill>
              </a:rPr>
              <a:t>وتكنولوجيا المعلومات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274320" y="4773168"/>
            <a:ext cx="1371600" cy="246888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June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4773168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Flight Operations Data Analysis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0" y="477316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336EA8"/>
                </a:solidFill>
              </a:rPr>
              <a:t>eyouth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75320" y="4736592"/>
            <a:ext cx="594360" cy="32004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473659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Wireframe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45920" y="1078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Key user interfaces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45920" y="1078992"/>
            <a:ext cx="1097280" cy="54864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325880"/>
            <a:ext cx="5486400" cy="32004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97880" y="1417320"/>
            <a:ext cx="3017520" cy="594360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97880" y="1417320"/>
            <a:ext cx="109728" cy="594360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508760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492240" y="15544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5.82M Total Flights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897880" y="2167128"/>
            <a:ext cx="3017520" cy="594360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897880" y="2167128"/>
            <a:ext cx="109728" cy="59436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2258568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92240" y="230428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9.23 min Avg Delay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897880" y="2916936"/>
            <a:ext cx="3017520" cy="594360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897880" y="2916936"/>
            <a:ext cx="109728" cy="59436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3008376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492240" y="305409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63.47% On-Time %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897880" y="3666744"/>
            <a:ext cx="3017520" cy="594360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897880" y="3666744"/>
            <a:ext cx="109728" cy="59436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328" y="3758184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492240" y="3803904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Billion Miles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0" cy="164592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47954"/>
                </a:solidFill>
              </a:rPr>
              <a:t>رواد مصر الرقمية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589520" y="2011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47954"/>
                </a:solidFill>
              </a:rPr>
              <a:t>وزارة الاتصالات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047954"/>
                </a:solidFill>
              </a:rPr>
              <a:t>وتكنولوجيا المعلومات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274320" y="4773168"/>
            <a:ext cx="1371600" cy="246888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June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4773168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Flight Operations Data Analysis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0" y="477316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336EA8"/>
                </a:solidFill>
              </a:rPr>
              <a:t>eyouth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75320" y="4736592"/>
            <a:ext cx="594360" cy="32004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473659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 + Features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45920" y="1078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and what they get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45920" y="1078992"/>
            <a:ext cx="1097280" cy="54864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389888"/>
            <a:ext cx="4114800" cy="3383280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389888"/>
            <a:ext cx="4114800" cy="384048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444752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67512" y="1435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11480" y="1874520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48640" y="1920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Managers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fleet performance &amp; delay patterns per airline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11480" y="2606040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48640" y="2651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Operations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top airports by volume &amp; congestion hotspots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11480" y="3337560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48640" y="3383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864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down into monthly heatmaps and delay categories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11480" y="4069080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48640" y="4114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 &amp; Agencies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48640" y="4343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best airlines and routes for on-time travel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709160" y="1389888"/>
            <a:ext cx="4206240" cy="3383280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709160" y="1389888"/>
            <a:ext cx="4206240" cy="384048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444752"/>
            <a:ext cx="274320" cy="27432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102352" y="1435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4800600" y="1929384"/>
            <a:ext cx="256032" cy="256032"/>
          </a:xfrm>
          <a:prstGeom prst="ellipse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800600" y="1929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5120640" y="19019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Performance Ranking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5120640" y="21031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all 14 airlines by flight count &amp; delay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4800600" y="2496312"/>
            <a:ext cx="256032" cy="256032"/>
          </a:xfrm>
          <a:prstGeom prst="ellipse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800600" y="2496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5120640" y="24688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Volume Analysis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5120640" y="26700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busiest airports with drill-through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4800600" y="3063240"/>
            <a:ext cx="256032" cy="256032"/>
          </a:xfrm>
          <a:prstGeom prst="ellipse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800600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5120640" y="30358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Category Breakdown</a:t>
            </a:r>
            <a:endParaRPr lang="en-US" sz="1100" dirty="0"/>
          </a:p>
        </p:txBody>
      </p:sp>
      <p:sp>
        <p:nvSpPr>
          <p:cNvPr id="46" name="Text 42"/>
          <p:cNvSpPr/>
          <p:nvPr/>
        </p:nvSpPr>
        <p:spPr>
          <a:xfrm>
            <a:off x="5120640" y="32369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/ On-Time / Moderate / Severe split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4800600" y="3630168"/>
            <a:ext cx="256032" cy="256032"/>
          </a:xfrm>
          <a:prstGeom prst="ellipse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4800600" y="3630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5120640" y="360273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Heatmap</a:t>
            </a:r>
            <a:endParaRPr lang="en-US" sz="1100" dirty="0"/>
          </a:p>
        </p:txBody>
      </p:sp>
      <p:sp>
        <p:nvSpPr>
          <p:cNvPr id="50" name="Text 46"/>
          <p:cNvSpPr/>
          <p:nvPr/>
        </p:nvSpPr>
        <p:spPr>
          <a:xfrm>
            <a:off x="5120640" y="380390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delay matrix by airline × month</a:t>
            </a:r>
            <a:endParaRPr lang="en-US" sz="950" dirty="0"/>
          </a:p>
        </p:txBody>
      </p:sp>
      <p:sp>
        <p:nvSpPr>
          <p:cNvPr id="51" name="Shape 47"/>
          <p:cNvSpPr/>
          <p:nvPr/>
        </p:nvSpPr>
        <p:spPr>
          <a:xfrm>
            <a:off x="4800600" y="4197096"/>
            <a:ext cx="256032" cy="256032"/>
          </a:xfrm>
          <a:prstGeom prst="ellipse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4800600" y="4197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5120640" y="41696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Distribution</a:t>
            </a:r>
            <a:endParaRPr lang="en-US" sz="1100" dirty="0"/>
          </a:p>
        </p:txBody>
      </p:sp>
      <p:sp>
        <p:nvSpPr>
          <p:cNvPr id="54" name="Text 50"/>
          <p:cNvSpPr/>
          <p:nvPr/>
        </p:nvSpPr>
        <p:spPr>
          <a:xfrm>
            <a:off x="5120640" y="43708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628 airports mapped across 54 states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0" cy="164592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47954"/>
                </a:solidFill>
              </a:rPr>
              <a:t>رواد مصر الرقمية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589520" y="2011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47954"/>
                </a:solidFill>
              </a:rPr>
              <a:t>وزارة الاتصالات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047954"/>
                </a:solidFill>
              </a:rPr>
              <a:t>وتكنولوجيا المعلومات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274320" y="4773168"/>
            <a:ext cx="1371600" cy="246888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June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4773168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Flight Operations Data Analysis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0" y="477316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336EA8"/>
                </a:solidFill>
              </a:rPr>
              <a:t>eyouth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75320" y="4736592"/>
            <a:ext cx="594360" cy="32004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473659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45920" y="1078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 model — Power BI / MySQL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45920" y="1078992"/>
            <a:ext cx="1097280" cy="54864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325880"/>
            <a:ext cx="5303520" cy="32004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715000" y="1389888"/>
            <a:ext cx="3200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715000" y="1389888"/>
            <a:ext cx="3200400" cy="292608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06440" y="14264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flight_analysis.flights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06440" y="1709928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AIRLINE, FLIGHT_NUMBER, ORIGIN_AIRPORT,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DESTINATION_AIRPORT, DEPARTURE_DELAY,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ARRIVAL_DELAY, DISTANCE, CANCELLED…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715000" y="2532888"/>
            <a:ext cx="3200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715000" y="2532888"/>
            <a:ext cx="3200400" cy="292608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25694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flight_analysis.airlines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806440" y="2852928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IATA_CODE, AIRLINE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(+ calculated: OnTimeFlights, OTimePercentage)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715000" y="3675888"/>
            <a:ext cx="3200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715000" y="3675888"/>
            <a:ext cx="3200400" cy="292608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37124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flight_analysis.airports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806440" y="3995928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IATA_CODE, AIRPORT, CITY, STATE,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COUNTRY, LATITUDE, LONGITUDE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715000" y="4572000"/>
            <a:ext cx="3200400" cy="182880"/>
          </a:xfrm>
          <a:prstGeom prst="rect">
            <a:avLst/>
          </a:prstGeom>
          <a:solidFill>
            <a:srgbClr val="E8F7F2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15000" y="45720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47954"/>
                </a:solidFill>
              </a:rPr>
              <a:t>airlines ← 1:* → flights  |  airports ← 1:* → flights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0" cy="164592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47954"/>
                </a:solidFill>
              </a:rPr>
              <a:t>رواد مصر الرقمية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589520" y="2011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47954"/>
                </a:solidFill>
              </a:rPr>
              <a:t>وزارة الاتصالات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047954"/>
                </a:solidFill>
              </a:rPr>
              <a:t>وتكنولوجيا المعلومات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274320" y="4773168"/>
            <a:ext cx="1371600" cy="246888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June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4773168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Flight Operations Data Analysis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0" y="477316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336EA8"/>
                </a:solidFill>
              </a:rPr>
              <a:t>eyouth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75320" y="4736592"/>
            <a:ext cx="594360" cy="32004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473659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45920" y="1078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 + Tools &amp; Frameworks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45920" y="1078992"/>
            <a:ext cx="1097280" cy="54864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389888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389888"/>
            <a:ext cx="1005840" cy="160020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89280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53312" y="14813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Querying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53312" y="1801368"/>
            <a:ext cx="3017520" cy="36576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53312" y="1892808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design, complex queries, aggregations, GROUP BY, LIMIT, subqueries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1389888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389888"/>
            <a:ext cx="1005840" cy="1600200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89280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88152" y="14813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788152" y="1801368"/>
            <a:ext cx="3017520" cy="36576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88152" y="1892808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measures, data modeling, interactive dashboards, slicers, heatmaps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172968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172968"/>
            <a:ext cx="1005840" cy="160020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67588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53312" y="32644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353312" y="3584448"/>
            <a:ext cx="3017520" cy="36576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53312" y="3675888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pipeline: import, clean, shape, and merge tables from CSV sources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3172968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172968"/>
            <a:ext cx="1005840" cy="16002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67588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788152" y="32644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788152" y="3584448"/>
            <a:ext cx="3017520" cy="36576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88152" y="3675888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columns: OnTimeFlights, OTimePercentage, Delay Category bins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0" cy="164592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47954"/>
                </a:solidFill>
              </a:rPr>
              <a:t>رواد مصر الرقمية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589520" y="2011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47954"/>
                </a:solidFill>
              </a:rPr>
              <a:t>وزارة الاتصالات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047954"/>
                </a:solidFill>
              </a:rPr>
              <a:t>وتكنولوجيا المعلومات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274320" y="4773168"/>
            <a:ext cx="1371600" cy="246888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June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4773168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Flight Operations Data Analysis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0" y="477316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336EA8"/>
                </a:solidFill>
              </a:rPr>
              <a:t>eyouth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75320" y="4736592"/>
            <a:ext cx="594360" cy="32004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473659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45920" y="1078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Performance Overview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45920" y="1078992"/>
            <a:ext cx="1097280" cy="54864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1325880"/>
            <a:ext cx="8686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371600"/>
            <a:ext cx="859536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0" cy="164592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47954"/>
                </a:solidFill>
              </a:rPr>
              <a:t>رواد مصر الرقمية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589520" y="2011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47954"/>
                </a:solidFill>
              </a:rPr>
              <a:t>وزارة الاتصالات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047954"/>
                </a:solidFill>
              </a:rPr>
              <a:t>وتكنولوجيا المعلومات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274320" y="4773168"/>
            <a:ext cx="1371600" cy="246888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June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4773168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Flight Operations Data Analysis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0" y="477316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336EA8"/>
                </a:solidFill>
              </a:rPr>
              <a:t>eyouth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75320" y="4736592"/>
            <a:ext cx="594360" cy="32004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473659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45920" y="1078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Volume &amp; Delay Analysis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45920" y="1078992"/>
            <a:ext cx="1097280" cy="54864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1325880"/>
            <a:ext cx="8686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371600"/>
            <a:ext cx="859536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0" cy="164592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47954"/>
                </a:solidFill>
              </a:rPr>
              <a:t>رواد مصر الرقمية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589520" y="2011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47954"/>
                </a:solidFill>
              </a:rPr>
              <a:t>وزارة الاتصالات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047954"/>
                </a:solidFill>
              </a:rPr>
              <a:t>وتكنولوجيا المعلومات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274320" y="4773168"/>
            <a:ext cx="1371600" cy="246888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June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4773168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Flight Operations Data Analysis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0" y="477316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336EA8"/>
                </a:solidFill>
              </a:rPr>
              <a:t>eyouth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75320" y="4736592"/>
            <a:ext cx="594360" cy="32004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473659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45920" y="1078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Distribution of Airports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45920" y="1078992"/>
            <a:ext cx="1097280" cy="54864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1325880"/>
            <a:ext cx="8686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371600"/>
            <a:ext cx="859536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0" cy="164592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47954"/>
                </a:solidFill>
              </a:rPr>
              <a:t>رواد مصر الرقمية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589520" y="2011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47954"/>
                </a:solidFill>
              </a:rPr>
              <a:t>وزارة الاتصالات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047954"/>
                </a:solidFill>
              </a:rPr>
              <a:t>وتكنولوجيا المعلومات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274320" y="4773168"/>
            <a:ext cx="1371600" cy="246888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June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4773168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Flight Operations Data Analysis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0" y="477316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336EA8"/>
                </a:solidFill>
              </a:rPr>
              <a:t>eyouth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75320" y="4736592"/>
            <a:ext cx="594360" cy="32004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473659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45920" y="1078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— Data Analysis Track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45920" y="1078992"/>
            <a:ext cx="1097280" cy="54864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389888"/>
            <a:ext cx="2816352" cy="1371600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1737360"/>
            <a:ext cx="594360" cy="594360"/>
          </a:xfrm>
          <a:prstGeom prst="ellipse">
            <a:avLst/>
          </a:prstGeom>
          <a:solidFill>
            <a:srgbClr val="04795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Roshdy Mohammed Roshdy Salama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97280" y="248716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18688" y="1389888"/>
            <a:ext cx="2816352" cy="1371600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55848" y="1737360"/>
            <a:ext cx="594360" cy="594360"/>
          </a:xfrm>
          <a:prstGeom prst="ellipse">
            <a:avLst/>
          </a:prstGeom>
          <a:solidFill>
            <a:srgbClr val="336E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041648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Abdelrahman Hany Mohamed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041648" y="248716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63056" y="1389888"/>
            <a:ext cx="2816352" cy="1371600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0216" y="1737360"/>
            <a:ext cx="594360" cy="594360"/>
          </a:xfrm>
          <a:prstGeom prst="ellipse">
            <a:avLst/>
          </a:prstGeom>
          <a:solidFill>
            <a:srgbClr val="0FAB7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0216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86016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Abdalrhman Mohamed Mostafa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86016" y="248716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990088"/>
            <a:ext cx="28163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3337560"/>
            <a:ext cx="594360" cy="594360"/>
          </a:xfrm>
          <a:prstGeom prst="ellipse">
            <a:avLst/>
          </a:prstGeom>
          <a:solidFill>
            <a:srgbClr val="D7B11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9728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Mazen Waleed Sayed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97280" y="408736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18688" y="2990088"/>
            <a:ext cx="28163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55848" y="3337560"/>
            <a:ext cx="594360" cy="594360"/>
          </a:xfrm>
          <a:prstGeom prst="ellipse">
            <a:avLst/>
          </a:prstGeom>
          <a:solidFill>
            <a:srgbClr val="336E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55848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041648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Asem Wael Rabie Mahfouz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041648" y="408736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63056" y="2990088"/>
            <a:ext cx="28163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00216" y="3337560"/>
            <a:ext cx="594360" cy="594360"/>
          </a:xfrm>
          <a:prstGeom prst="ellipse">
            <a:avLst/>
          </a:prstGeom>
          <a:solidFill>
            <a:srgbClr val="04795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0216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86016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Khaled Fahmy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986016" y="408736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0" cy="164592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47954"/>
                </a:solidFill>
              </a:rPr>
              <a:t>رواد مصر الرقمية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589520" y="2011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47954"/>
                </a:solidFill>
              </a:rPr>
              <a:t>وزارة الاتصالات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047954"/>
                </a:solidFill>
              </a:rPr>
              <a:t>وتكنولوجيا المعلومات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274320" y="4773168"/>
            <a:ext cx="1371600" cy="246888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June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4773168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Flight Operations Data Analysis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0" y="477316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336EA8"/>
                </a:solidFill>
              </a:rPr>
              <a:t>eyouth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75320" y="4736592"/>
            <a:ext cx="594360" cy="32004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473659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Queries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45920" y="1078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exploration — flight_analysis schema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45920" y="1078992"/>
            <a:ext cx="1097280" cy="54864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1325880"/>
            <a:ext cx="4389120" cy="32461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1371600"/>
            <a:ext cx="4343400" cy="1554480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6032" y="2953512"/>
            <a:ext cx="4343400" cy="157276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389888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57800" y="13898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Queries Used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800600" y="1847088"/>
            <a:ext cx="411480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92040" y="186537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6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grouped by AIRLINE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4892040" y="209397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flights per airline, ordered desc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800600" y="24140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892040" y="24323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6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AVG(DEPARTURE_DELAY) by ORIGIN_AIRPORT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892040" y="26609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airports with highest avg delay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800600" y="2980944"/>
            <a:ext cx="411480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892040" y="29992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6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AVG(DEPARTURE_DELAY) by AIRLINE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4892040" y="322783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delay performance ranking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800600" y="354787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892040" y="35661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6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CANCELLED rate — CASE WHEN logic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4892040" y="37947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% per airline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4800600" y="4114800"/>
            <a:ext cx="411480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892040" y="41330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6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airports — full join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4892040" y="436168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data for map visualization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0" cy="164592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47954"/>
                </a:solidFill>
              </a:rPr>
              <a:t>رواد مصر الرقمية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589520" y="2011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47954"/>
                </a:solidFill>
              </a:rPr>
              <a:t>وزارة الاتصالات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047954"/>
                </a:solidFill>
              </a:rPr>
              <a:t>وتكنولوجيا المعلومات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274320" y="4773168"/>
            <a:ext cx="1371600" cy="246888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June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4773168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Flight Operations Data Analysis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0" y="477316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336EA8"/>
                </a:solidFill>
              </a:rPr>
              <a:t>eyouth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75320" y="4736592"/>
            <a:ext cx="594360" cy="32004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473659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45920" y="1078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45920" y="1078992"/>
            <a:ext cx="1097280" cy="54864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389888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389888"/>
            <a:ext cx="4206240" cy="502920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43560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63.47%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743200" y="14813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198424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flights depart on time or early — showing overall operational health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389888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389888"/>
            <a:ext cx="4206240" cy="50292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43560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 Airline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78040" y="14813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Delay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198424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 Airlines (NK) has the highest avg departure delay — ~14+ minutes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127248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127248"/>
            <a:ext cx="4206240" cy="50292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1729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 — 347K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743200" y="32186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Airport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72160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 Hartsfield leads flight volume, followed by ORD (Chicago) and DFW (Dallas)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127248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127248"/>
            <a:ext cx="4206240" cy="50292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1729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/ June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178040" y="32186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Months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372160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(winter storms) and June/July (summer demand) show highest delay spikes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47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926080"/>
            <a:ext cx="3200400" cy="32004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457200"/>
            <a:ext cx="1828800" cy="1828800"/>
          </a:xfrm>
          <a:prstGeom prst="ellipse">
            <a:avLst/>
          </a:prstGeom>
          <a:solidFill>
            <a:srgbClr val="D7B119">
              <a:alpha val="20000"/>
            </a:srgbClr>
          </a:solidFill>
          <a:ln w="12700">
            <a:solidFill>
              <a:srgbClr val="D7B11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280160"/>
            <a:ext cx="2560320" cy="2560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7315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365760" y="1691640"/>
            <a:ext cx="4114800" cy="4572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7B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or Feedback?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5760" y="23317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Project: Flight Operations Analytics Dashboard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27432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 Tools: MySQL Workbench  |  Power BI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31546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 Date: June 2025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35661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Program: DEPI — Data Analysis Track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4434840"/>
            <a:ext cx="1463040" cy="41148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4434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</a:rPr>
              <a:t>eyouth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920240" y="4480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AAA0"/>
                </a:solidFill>
              </a:rPr>
              <a:t>رواد مصر الرقمية  |  وزارة الاتصالات وتكنولوجيا المعلومات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Operations Analytics - Graduation Project</dc:title>
  <dc:subject>PptxGenJS Presentation</dc:subject>
  <dc:creator>PptxGenJS</dc:creator>
  <cp:lastModifiedBy>PptxGenJS</cp:lastModifiedBy>
  <cp:revision>1</cp:revision>
  <dcterms:created xsi:type="dcterms:W3CDTF">2026-06-26T23:10:44Z</dcterms:created>
  <dcterms:modified xsi:type="dcterms:W3CDTF">2026-06-26T23:10:44Z</dcterms:modified>
</cp:coreProperties>
</file>